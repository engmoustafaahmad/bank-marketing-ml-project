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9" r:id="rId10"/>
    <p:sldId id="268" r:id="rId11"/>
    <p:sldId id="271" r:id="rId12"/>
    <p:sldId id="260" r:id="rId13"/>
    <p:sldId id="272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23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BA14A-59FE-4872-9A42-D5F7E23DDDE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425B-A4E9-4F4B-A909-E8974845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64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BA14A-59FE-4872-9A42-D5F7E23DDDE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425B-A4E9-4F4B-A909-E8974845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85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BA14A-59FE-4872-9A42-D5F7E23DDDE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425B-A4E9-4F4B-A909-E8974845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223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BA14A-59FE-4872-9A42-D5F7E23DDDE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425B-A4E9-4F4B-A909-E8974845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20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BA14A-59FE-4872-9A42-D5F7E23DDDE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425B-A4E9-4F4B-A909-E8974845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119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BA14A-59FE-4872-9A42-D5F7E23DDDE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425B-A4E9-4F4B-A909-E8974845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268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BA14A-59FE-4872-9A42-D5F7E23DDDE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425B-A4E9-4F4B-A909-E8974845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11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BA14A-59FE-4872-9A42-D5F7E23DDDE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425B-A4E9-4F4B-A909-E8974845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83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BA14A-59FE-4872-9A42-D5F7E23DDDE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425B-A4E9-4F4B-A909-E8974845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022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BA14A-59FE-4872-9A42-D5F7E23DDDE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425B-A4E9-4F4B-A909-E8974845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00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BA14A-59FE-4872-9A42-D5F7E23DDDE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4425B-A4E9-4F4B-A909-E8974845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887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BA14A-59FE-4872-9A42-D5F7E23DDDE0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4425B-A4E9-4F4B-A909-E897484557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119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62000" y="1600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rgbClr val="2563EB"/>
                </a:solidFill>
                <a:effectLst/>
                <a:latin typeface="Inter"/>
                <a:cs typeface="Arial" pitchFamily="34" charset="0"/>
              </a:rPr>
              <a:t>Bank Marketing Classification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762000" y="2162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700" b="0" i="0" u="none" strike="noStrike" cap="none" normalizeH="0" baseline="0" dirty="0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Using Machine Learning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725" y="-14288"/>
            <a:ext cx="532262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762000" y="3581400"/>
            <a:ext cx="6629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chemeClr val="bg1">
                    <a:lumMod val="50000"/>
                  </a:schemeClr>
                </a:solidFill>
              </a:rPr>
              <a:t>Course</a:t>
            </a:r>
            <a:r>
              <a:rPr lang="en-US" b="1" dirty="0"/>
              <a:t>:</a:t>
            </a:r>
            <a:r>
              <a:rPr lang="en-US" dirty="0"/>
              <a:t> Pattern Recognition</a:t>
            </a:r>
            <a:endParaRPr lang="en-US" dirty="0" smtClean="0">
              <a:effectLst/>
            </a:endParaRP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Instructor</a:t>
            </a:r>
            <a:r>
              <a:rPr lang="en-US" b="1" dirty="0"/>
              <a:t>:</a:t>
            </a:r>
            <a:r>
              <a:rPr lang="en-US" dirty="0"/>
              <a:t> Dr. Yasmine</a:t>
            </a:r>
            <a:endParaRPr lang="en-US" dirty="0" smtClean="0">
              <a:effectLst/>
            </a:endParaRP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Team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Moustafa</a:t>
            </a:r>
            <a:r>
              <a:rPr lang="en-US" dirty="0"/>
              <a:t>, Yousef, Ahmed </a:t>
            </a:r>
            <a:r>
              <a:rPr lang="en-US" dirty="0" err="1"/>
              <a:t>Masry</a:t>
            </a:r>
            <a:r>
              <a:rPr lang="en-US" dirty="0"/>
              <a:t>, Mohamed, Ahmed Salah</a:t>
            </a:r>
            <a:endParaRPr lang="en-US" dirty="0" smtClean="0">
              <a:effectLst/>
            </a:endParaRPr>
          </a:p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Date</a:t>
            </a:r>
            <a:r>
              <a:rPr lang="en-US" b="1" dirty="0"/>
              <a:t>:</a:t>
            </a:r>
            <a:r>
              <a:rPr lang="en-US" dirty="0"/>
              <a:t> 1/5/2026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17167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098" y="2243136"/>
            <a:ext cx="3874527" cy="286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57175" y="533400"/>
            <a:ext cx="439094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Problem Statement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57175" y="2315643"/>
            <a:ext cx="449995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The goal is to predict whether a client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Will subscribe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to a term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deposit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based on their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profile and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marketing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campaign data.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228600" y="4191000"/>
            <a:ext cx="363112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This is formulated as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2563EB"/>
                </a:solidFill>
                <a:effectLst/>
                <a:latin typeface="Inter"/>
                <a:cs typeface="Arial" pitchFamily="34" charset="0"/>
              </a:rPr>
              <a:t>Binary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2563EB"/>
                </a:solidFill>
                <a:effectLst/>
                <a:latin typeface="Inter"/>
                <a:cs typeface="Arial" pitchFamily="34" charset="0"/>
              </a:rPr>
              <a:t> Classification Problem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6549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57200" y="1171545"/>
            <a:ext cx="760496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Using the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Bank Marketing Dataset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 to train and evaluate models.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457200" y="317213"/>
            <a:ext cx="360066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Dataset Overview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349871"/>
            <a:ext cx="8758379" cy="28208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6998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057400" y="1163420"/>
            <a:ext cx="533992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Challenges &amp; Solutions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133600"/>
            <a:ext cx="8053524" cy="384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6998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57200" y="515035"/>
            <a:ext cx="52886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Preprocessing Pipeline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9" y="2467221"/>
            <a:ext cx="8915400" cy="1927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6998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" y="393701"/>
            <a:ext cx="448712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Model Used: </a:t>
            </a:r>
            <a:r>
              <a:rPr kumimoji="0" lang="en-US" altLang="en-US" sz="3200" b="1" i="0" u="none" strike="noStrike" cap="none" normalizeH="0" baseline="0" dirty="0" err="1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XGBoost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78476"/>
            <a:ext cx="6260492" cy="245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88998" y="3443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700" b="1" i="0" u="none" strike="noStrike" cap="none" normalizeH="0" baseline="0" dirty="0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Random Forest Model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696" y="3810000"/>
            <a:ext cx="6392863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6998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33399" y="1587500"/>
            <a:ext cx="7588937" cy="200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Reduced dimensions while keeping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95% variance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 of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solidFill>
                  <a:srgbClr val="475569"/>
                </a:solidFill>
                <a:latin typeface="Inter"/>
                <a:cs typeface="Arial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the data.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Applied before training the second model to evaluate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 its impact.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381000" y="1369368"/>
            <a:ext cx="55463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rgbClr val="2563EB"/>
                </a:solidFill>
                <a:effectLst/>
                <a:latin typeface="Inter"/>
                <a:cs typeface="Arial" pitchFamily="34" charset="0"/>
              </a:rPr>
              <a:t>PCA (Principal Component Analysis)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28600" y="634097"/>
            <a:ext cx="592908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Dimensionality Reduction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7893" y="3121967"/>
            <a:ext cx="1188886" cy="1106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509022" y="3998029"/>
            <a:ext cx="27222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2563EB"/>
                </a:solidFill>
                <a:latin typeface="Inter"/>
                <a:cs typeface="Arial" pitchFamily="34" charset="0"/>
              </a:rPr>
              <a:t>Feature</a:t>
            </a:r>
            <a:r>
              <a:rPr lang="en-US" altLang="en-US" sz="16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altLang="en-US" sz="2400" b="1" dirty="0">
                <a:solidFill>
                  <a:srgbClr val="2563EB"/>
                </a:solidFill>
                <a:latin typeface="Inter"/>
                <a:cs typeface="Arial" pitchFamily="34" charset="0"/>
              </a:rPr>
              <a:t>Selection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4431015"/>
            <a:ext cx="7772400" cy="2401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6998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81000" y="381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700" b="1" i="0" u="none" strike="noStrike" cap="none" normalizeH="0" baseline="0" dirty="0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Results: </a:t>
            </a:r>
            <a:r>
              <a:rPr kumimoji="0" lang="en-US" altLang="en-US" sz="2700" b="1" i="0" u="none" strike="noStrike" cap="none" normalizeH="0" baseline="0" dirty="0" err="1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XGBoost</a:t>
            </a:r>
            <a:r>
              <a:rPr kumimoji="0" lang="en-US" altLang="en-US" sz="2700" b="1" i="0" u="none" strike="noStrike" cap="none" normalizeH="0" baseline="0" dirty="0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 (Original)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762000"/>
            <a:ext cx="3162300" cy="237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762000"/>
            <a:ext cx="3248025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381000" y="3505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700" b="1" i="0" u="none" strike="noStrike" cap="none" normalizeH="0" baseline="0" dirty="0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Results: PCA + </a:t>
            </a:r>
            <a:r>
              <a:rPr kumimoji="0" lang="en-US" altLang="en-US" sz="2700" b="1" i="0" u="none" strike="noStrike" cap="none" normalizeH="0" baseline="0" dirty="0" err="1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XGBoost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550" y="4114800"/>
            <a:ext cx="3171825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3810000"/>
            <a:ext cx="3105150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6998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81000" y="1816878"/>
            <a:ext cx="18473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55600" y="-122424"/>
            <a:ext cx="4968294" cy="587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dirty="0"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Used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2563EB"/>
                </a:solidFill>
                <a:effectLst/>
                <a:latin typeface="Inter"/>
                <a:cs typeface="Arial" pitchFamily="34" charset="0"/>
              </a:rPr>
              <a:t>GridSearchCV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 to optimize model parameters.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solidFill>
                <a:srgbClr val="475569"/>
              </a:solidFill>
              <a:latin typeface="Inter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475569"/>
              </a:solidFill>
              <a:effectLst/>
              <a:latin typeface="Inter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Tuned parameters: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B91C1C"/>
                </a:solidFill>
                <a:effectLst/>
                <a:latin typeface="Source Code Pro"/>
                <a:cs typeface="Arial" pitchFamily="34" charset="0"/>
              </a:rPr>
              <a:t>•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B91C1C"/>
                </a:solidFill>
                <a:effectLst/>
                <a:latin typeface="Source Code Pro"/>
                <a:cs typeface="Arial" pitchFamily="34" charset="0"/>
              </a:rPr>
              <a:t>n_estimators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B91C1C"/>
                </a:solidFill>
                <a:effectLst/>
                <a:latin typeface="Source Code Pro"/>
                <a:cs typeface="Arial" pitchFamily="34" charset="0"/>
              </a:rPr>
              <a:t>•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B91C1C"/>
                </a:solidFill>
                <a:effectLst/>
                <a:latin typeface="Source Code Pro"/>
                <a:cs typeface="Arial" pitchFamily="34" charset="0"/>
              </a:rPr>
              <a:t>max_depth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B91C1C"/>
              </a:solidFill>
              <a:effectLst/>
              <a:latin typeface="Source Code Pro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Applied on: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• Random Forest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•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XGBoost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rgbClr val="475569"/>
              </a:solidFill>
              <a:effectLst/>
              <a:latin typeface="Inter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What the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Heatmap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 shows: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• Best parameter combination</a:t>
            </a:r>
            <a:endParaRPr kumimoji="0" lang="en-US" alt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Inter"/>
                <a:cs typeface="Arial" pitchFamily="34" charset="0"/>
              </a:rPr>
              <a:t>• Performance differences across values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28600" y="6858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700" b="1" i="0" u="none" strike="noStrike" cap="none" normalizeH="0" baseline="0" dirty="0" err="1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Hyperparameter</a:t>
            </a:r>
            <a:r>
              <a:rPr kumimoji="0" lang="en-US" altLang="en-US" sz="2700" b="1" i="0" u="none" strike="noStrike" cap="none" normalizeH="0" baseline="0" dirty="0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 Tuning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124" name="Picture 4" descr="C:\Users\AIA\Desktop\downloa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00" y="1219200"/>
            <a:ext cx="3304018" cy="2730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:\Users\AIA\Desktop\xgboos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909" y="3962286"/>
            <a:ext cx="3352800" cy="2770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6936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81000" y="210235"/>
            <a:ext cx="350608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Final Comparison</a:t>
            </a:r>
            <a:endParaRPr lang="en-US" sz="3600" dirty="0">
              <a:effectLst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46" y="1600200"/>
            <a:ext cx="7786254" cy="34489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6998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" y="355685"/>
            <a:ext cx="2454518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700" b="1" i="0" u="none" strike="noStrike" cap="none" normalizeH="0" baseline="0" dirty="0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Key Findings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0200"/>
            <a:ext cx="849527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3232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825788"/>
            <a:ext cx="303198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Model Trade-off </a:t>
            </a:r>
            <a:endParaRPr lang="en-US" sz="3200" dirty="0">
              <a:effectLst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482" y="2057400"/>
            <a:ext cx="7993119" cy="3962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3574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199"/>
            <a:ext cx="8262938" cy="330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457200" y="424190"/>
            <a:ext cx="21419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rgbClr val="1E293B"/>
                </a:solidFill>
                <a:effectLst/>
                <a:latin typeface="Inter"/>
                <a:cs typeface="Arial" pitchFamily="34" charset="0"/>
              </a:rPr>
              <a:t>Conclusion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210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181</Words>
  <Application>Microsoft Office PowerPoint</Application>
  <PresentationFormat>On-screen Show (4:3)</PresentationFormat>
  <Paragraphs>52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SACC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Maher</dc:creator>
  <cp:lastModifiedBy>Maher</cp:lastModifiedBy>
  <cp:revision>15</cp:revision>
  <dcterms:created xsi:type="dcterms:W3CDTF">2026-04-30T17:07:24Z</dcterms:created>
  <dcterms:modified xsi:type="dcterms:W3CDTF">2026-05-06T09:52:48Z</dcterms:modified>
</cp:coreProperties>
</file>